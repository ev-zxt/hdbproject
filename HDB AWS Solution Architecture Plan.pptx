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1" Type="http://schemas.openxmlformats.org/officeDocument/2006/relationships/image" Target="../media/image12.png"/><Relationship Id="rId12" Type="http://schemas.openxmlformats.org/officeDocument/2006/relationships/image" Target="../media/image13.png"/><Relationship Id="rId13" Type="http://schemas.openxmlformats.org/officeDocument/2006/relationships/image" Target="../media/image14.png"/><Relationship Id="rId14" Type="http://schemas.openxmlformats.org/officeDocument/2006/relationships/image" Target="../media/image15.png"/><Relationship Id="rId15" Type="http://schemas.openxmlformats.org/officeDocument/2006/relationships/image" Target="../media/image16.png"/><Relationship Id="rId16" Type="http://schemas.openxmlformats.org/officeDocument/2006/relationships/image" Target="../media/image17.png"/><Relationship Id="rId17" Type="http://schemas.openxmlformats.org/officeDocument/2006/relationships/image" Target="../media/image1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Relationship Id="rId9" Type="http://schemas.openxmlformats.org/officeDocument/2006/relationships/image" Target="../media/image2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8" Type="http://schemas.openxmlformats.org/officeDocument/2006/relationships/image" Target="../media/image30.png"/><Relationship Id="rId9" Type="http://schemas.openxmlformats.org/officeDocument/2006/relationships/image" Target="../media/image31.png"/><Relationship Id="rId10" Type="http://schemas.openxmlformats.org/officeDocument/2006/relationships/image" Target="../media/image32.png"/><Relationship Id="rId11" Type="http://schemas.openxmlformats.org/officeDocument/2006/relationships/image" Target="../media/image33.png"/><Relationship Id="rId12" Type="http://schemas.openxmlformats.org/officeDocument/2006/relationships/image" Target="../media/image34.png"/><Relationship Id="rId13" Type="http://schemas.openxmlformats.org/officeDocument/2006/relationships/image" Target="../media/image35.png"/><Relationship Id="rId14" Type="http://schemas.openxmlformats.org/officeDocument/2006/relationships/image" Target="../media/image36.png"/><Relationship Id="rId15" Type="http://schemas.openxmlformats.org/officeDocument/2006/relationships/image" Target="../media/image37.png"/><Relationship Id="rId16" Type="http://schemas.openxmlformats.org/officeDocument/2006/relationships/image" Target="../media/image3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Relationship Id="rId6" Type="http://schemas.openxmlformats.org/officeDocument/2006/relationships/image" Target="../media/image42.png"/><Relationship Id="rId7" Type="http://schemas.openxmlformats.org/officeDocument/2006/relationships/image" Target="../media/image43.png"/><Relationship Id="rId8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611439"/>
            <a:ext cx="11049000" cy="4286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103536"/>
            <a:ext cx="3438525" cy="3214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2539305"/>
            <a:ext cx="11601450" cy="1095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312"/>
              </a:lnSpc>
            </a:pPr>
            <a:r>
              <a:rPr b="1" sz="3750" i="0" u="none">
                <a:solidFill>
                  <a:srgbClr val="0F172A"/>
                </a:solidFill>
                <a:latin typeface="Poppins"/>
              </a:rPr>
              <a:t>Enterprise Ingestion &amp;</a:t>
            </a:r>
            <a:r>
              <a:t>
</a:t>
            </a:r>
            <a:r>
              <a:rPr b="1" sz="3750" i="0" u="none">
                <a:solidFill>
                  <a:srgbClr val="0F172A"/>
                </a:solidFill>
                <a:latin typeface="Poppins"/>
              </a:rPr>
              <a:t> Exploitation Solution Patterns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3777555"/>
            <a:ext cx="11049000" cy="262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66"/>
              </a:lnSpc>
            </a:pPr>
            <a:r>
              <a:rPr b="0" sz="1425" i="0" u="none">
                <a:solidFill>
                  <a:srgbClr val="64748B"/>
                </a:solidFill>
                <a:latin typeface="Lato"/>
              </a:rPr>
              <a:t>Secure Data Ingestion and Private Tableau-to-Athena Analytic Pipelines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4859089"/>
            <a:ext cx="3000375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00000"/>
                </a:solidFill>
                <a:latin typeface="Lato"/>
              </a:rPr>
              <a:t>Standard:</a:t>
            </a:r>
            <a:r>
              <a:rPr b="0" sz="1200" i="0" u="none">
                <a:solidFill>
                  <a:srgbClr val="000000"/>
                </a:solidFill>
                <a:latin typeface="Lato"/>
              </a:rPr>
              <a:t> HDB Secure Architecture Guideline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48125" y="4859089"/>
            <a:ext cx="321945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00000"/>
                </a:solidFill>
                <a:latin typeface="Lato"/>
              </a:rPr>
              <a:t>Network Scope:</a:t>
            </a:r>
            <a:r>
              <a:rPr b="0" sz="1200" i="0" u="none">
                <a:solidFill>
                  <a:srgbClr val="000000"/>
                </a:solidFill>
                <a:latin typeface="Lato"/>
              </a:rPr>
              <a:t> Isolated HDB VPC (10.0.0.0/16)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43825" y="4859089"/>
            <a:ext cx="26670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00000"/>
                </a:solidFill>
                <a:latin typeface="Lato"/>
              </a:rPr>
              <a:t>Data Target:</a:t>
            </a:r>
            <a:r>
              <a:rPr b="0" sz="1200" i="0" u="none">
                <a:solidFill>
                  <a:srgbClr val="000000"/>
                </a:solidFill>
                <a:latin typeface="Lato"/>
              </a:rPr>
              <a:t> AWS S3 (SSE-KMS Secured)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71500" y="1219200"/>
          <a:ext cx="11049000" cy="34842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762250"/>
                <a:gridCol w="4972050"/>
                <a:gridCol w="3314700"/>
              </a:tblGrid>
              <a:tr h="580702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Infrastructure Pillar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Design Assumption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Government Compliance/Standard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580702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34155"/>
                          </a:solidFill>
                          <a:latin typeface="Lato"/>
                        </a:rPr>
                        <a:t>Ingestion Isolation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Lato"/>
                        </a:rPr>
                        <a:t>Compute engines running ETL jobs are stored exclusively in private subnets with no route to internet gateways.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Lato"/>
                        </a:rPr>
                        <a:t>IM8 Network Security Standard (Protected Segment)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80702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34155"/>
                          </a:solidFill>
                          <a:latin typeface="Lato"/>
                        </a:rPr>
                        <a:t>Compute Streaming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Lato"/>
                        </a:rPr>
                        <a:t>Serverless ingestion tools (Glue / Lambda) ingest data.gov.sg files by streaming bytes in-chunk directly to S3.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Lato"/>
                        </a:rPr>
                        <a:t>Memory stability against Out-Of-Memory limits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580702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34155"/>
                          </a:solidFill>
                          <a:latin typeface="Lato"/>
                        </a:rPr>
                        <a:t>KMS &amp; Auditing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Lato"/>
                        </a:rPr>
                        <a:t>A Customer-Managed Key (CMK) controls all data read/write trails, preventing global AWS account exposure.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Lato"/>
                        </a:rPr>
                        <a:t>NIST SP 800-57 Key Management Guidelines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80702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34155"/>
                          </a:solidFill>
                          <a:latin typeface="Lato"/>
                        </a:rPr>
                        <a:t>Tableau Reachability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Lato"/>
                        </a:rPr>
                        <a:t>Tableau Server is deployed inside a private subnet of the same VPC, or paired securely via AWS Transit Gateway.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Lato"/>
                        </a:rPr>
                        <a:t>AWS Well-Architected Security Pillar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580705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34155"/>
                          </a:solidFill>
                          <a:latin typeface="Lato"/>
                        </a:rPr>
                        <a:t>Private DNS Resolution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Lato"/>
                        </a:rPr>
                        <a:t>VPC is configured with </a:t>
                      </a:r>
                      <a:r>
                        <a:rPr b="0" sz="1125" i="0" u="none">
                          <a:solidFill>
                            <a:srgbClr val="334155"/>
                          </a:solidFill>
                          <a:latin typeface="Lato"/>
                        </a:rPr>
                        <a:t>enableDnsSupport</a:t>
                      </a:r>
                      <a:r>
                        <a:rPr b="0" sz="1125" i="0" u="none">
                          <a:solidFill>
                            <a:srgbClr val="334155"/>
                          </a:solidFill>
                          <a:latin typeface="Lato"/>
                        </a:rPr>
                        <a:t> and </a:t>
                      </a:r>
                      <a:r>
                        <a:rPr b="0" sz="1125" i="0" u="none">
                          <a:solidFill>
                            <a:srgbClr val="334155"/>
                          </a:solidFill>
                          <a:latin typeface="Lato"/>
                        </a:rPr>
                        <a:t>enableDnsHostnames</a:t>
                      </a:r>
                      <a:r>
                        <a:rPr b="0" sz="1125" i="0" u="none">
                          <a:solidFill>
                            <a:srgbClr val="334155"/>
                          </a:solidFill>
                          <a:latin typeface="Lato"/>
                        </a:rPr>
                        <a:t> set to </a:t>
                      </a:r>
                      <a:r>
                        <a:rPr b="0" sz="1125" i="0" u="none">
                          <a:solidFill>
                            <a:srgbClr val="334155"/>
                          </a:solidFill>
                          <a:latin typeface="Lato"/>
                        </a:rPr>
                        <a:t>true</a:t>
                      </a:r>
                      <a:r>
                        <a:rPr b="0" sz="1125" i="0" u="none">
                          <a:solidFill>
                            <a:srgbClr val="334155"/>
                          </a:solidFill>
                          <a:latin typeface="Lato"/>
                        </a:rPr>
                        <a:t>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Lato"/>
                        </a:rPr>
                        <a:t>Athena Endpoint DNS Mapping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571500" y="1598265"/>
            <a:ext cx="2762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333750" y="1598265"/>
            <a:ext cx="49720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305800" y="1598265"/>
            <a:ext cx="33147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2212627"/>
            <a:ext cx="2762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333750" y="2212627"/>
            <a:ext cx="49720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305800" y="2212627"/>
            <a:ext cx="33147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1500" y="2826990"/>
            <a:ext cx="2762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3750" y="2826990"/>
            <a:ext cx="49720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05800" y="2826990"/>
            <a:ext cx="33147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1500" y="3441352"/>
            <a:ext cx="2762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3750" y="3441352"/>
            <a:ext cx="49720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05800" y="3441352"/>
            <a:ext cx="33147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71500" y="4055715"/>
            <a:ext cx="2762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33750" y="4055715"/>
            <a:ext cx="49720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05800" y="4055715"/>
            <a:ext cx="33147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71500" y="4689127"/>
            <a:ext cx="2762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33750" y="4689127"/>
            <a:ext cx="49720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305800" y="4689127"/>
            <a:ext cx="33147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4375" y="476250"/>
            <a:ext cx="1145143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oppins"/>
              </a:rPr>
              <a:t>Core Architectural Assumptions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1500" y="476250"/>
            <a:ext cx="47625" cy="4572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171575"/>
            <a:ext cx="11049000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2457450"/>
            <a:ext cx="1655712" cy="10477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9332" y="1371600"/>
            <a:ext cx="7951142" cy="32194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31257" y="1276350"/>
            <a:ext cx="1885950" cy="1809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31257" y="1533525"/>
            <a:ext cx="2447180" cy="2895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84665" y="1533525"/>
            <a:ext cx="4173884" cy="2895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93182" y="1438275"/>
            <a:ext cx="1476375" cy="1809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93182" y="1695450"/>
            <a:ext cx="2123330" cy="10477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46590" y="1438275"/>
            <a:ext cx="1876425" cy="1809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46590" y="1695450"/>
            <a:ext cx="1853654" cy="10477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243119" y="1695450"/>
            <a:ext cx="1853654" cy="10477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71500" y="4933950"/>
            <a:ext cx="11049000" cy="1794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13"/>
              </a:lnSpc>
            </a:pPr>
            <a:r>
              <a:rPr b="0" sz="975" i="1" u="none">
                <a:solidFill>
                  <a:srgbClr val="64748B"/>
                </a:solidFill>
                <a:latin typeface="Lato"/>
              </a:rPr>
              <a:t>Figure 1.0: Unidirectional network isolation mapping public API endpoints safely into highly insulated data lakes.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485007" y="2676525"/>
            <a:ext cx="228600" cy="2286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89732" y="2962275"/>
            <a:ext cx="8191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1E293B"/>
                </a:solidFill>
                <a:latin typeface="Poppins SemiBold"/>
              </a:rPr>
              <a:t>data.gov.sg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2107" y="3171825"/>
            <a:ext cx="91440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750" i="0" u="none">
                <a:solidFill>
                  <a:srgbClr val="64748B"/>
                </a:solidFill>
                <a:latin typeface="Lato"/>
              </a:rPr>
              <a:t>Public API Endpoints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70112" y="2971800"/>
            <a:ext cx="756344" cy="190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21313" y="2971800"/>
            <a:ext cx="720476" cy="1905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740473" y="1914525"/>
            <a:ext cx="228600" cy="2286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402335" y="2200275"/>
            <a:ext cx="9048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1E293B"/>
                </a:solidFill>
                <a:latin typeface="Poppins SemiBold"/>
              </a:rPr>
              <a:t>NAT Gateway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560" y="2409825"/>
            <a:ext cx="1114425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750" i="0" u="none">
                <a:solidFill>
                  <a:srgbClr val="64748B"/>
                </a:solidFill>
                <a:latin typeface="Lato"/>
              </a:rPr>
              <a:t>Unidirectional egress core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30467" y="1914525"/>
            <a:ext cx="285750" cy="2286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549455" y="2200275"/>
            <a:ext cx="12477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1E293B"/>
                </a:solidFill>
                <a:latin typeface="Poppins SemiBold"/>
              </a:rPr>
              <a:t>AWS Glue/Lambda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16142" y="2409825"/>
            <a:ext cx="91440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750" i="0" u="none">
                <a:solidFill>
                  <a:srgbClr val="64748B"/>
                </a:solidFill>
                <a:latin typeface="Lato"/>
              </a:rPr>
              <a:t>Stream Chunking ETL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069859" y="1914525"/>
            <a:ext cx="200025" cy="2286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926984" y="2200275"/>
            <a:ext cx="4857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1E293B"/>
                </a:solidFill>
                <a:latin typeface="Poppins SemiBold"/>
              </a:rPr>
              <a:t>AWS S3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98397" y="2409825"/>
            <a:ext cx="7429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750" i="0" u="none">
                <a:solidFill>
                  <a:srgbClr val="64748B"/>
                </a:solidFill>
                <a:latin typeface="Lato"/>
              </a:rPr>
              <a:t>Target Data Store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4375" y="476250"/>
            <a:ext cx="1145143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oppins"/>
              </a:rPr>
              <a:t>Secure Ingestion Architecture Blueprint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1500" y="476250"/>
            <a:ext cx="47625" cy="4572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171575"/>
            <a:ext cx="5334000" cy="325516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171575"/>
            <a:ext cx="5334000" cy="32551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19150" y="1419225"/>
            <a:ext cx="5080635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D9488"/>
                </a:solidFill>
                <a:latin typeface="Poppins"/>
              </a:rPr>
              <a:t>Large File (&gt;100MB) Streaming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9150" y="1809750"/>
            <a:ext cx="4838700" cy="6310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334155"/>
                </a:solidFill>
                <a:latin typeface="Lato"/>
              </a:rPr>
              <a:t>Computing scripts utilize Python's </a:t>
            </a:r>
            <a:r>
              <a:rPr b="0" sz="1125" i="0" u="none">
                <a:solidFill>
                  <a:srgbClr val="334155"/>
                </a:solidFill>
                <a:latin typeface="Lato"/>
              </a:rPr>
              <a:t>requests</a:t>
            </a:r>
            <a:r>
              <a:rPr b="0" sz="1125" i="0" u="none">
                <a:solidFill>
                  <a:srgbClr val="334155"/>
                </a:solidFill>
                <a:latin typeface="Lato"/>
              </a:rPr>
              <a:t> with </a:t>
            </a:r>
            <a:r>
              <a:rPr b="0" sz="1125" i="0" u="none">
                <a:solidFill>
                  <a:srgbClr val="334155"/>
                </a:solidFill>
                <a:latin typeface="Lato"/>
              </a:rPr>
              <a:t>stream=True</a:t>
            </a:r>
            <a:r>
              <a:rPr b="0" sz="1125" i="0" u="none">
                <a:solidFill>
                  <a:srgbClr val="334155"/>
                </a:solidFill>
                <a:latin typeface="Lato"/>
              </a:rPr>
              <a:t> to split files and upload them seamlessly using S3 Multi-part Upload API, bypassing local disk limitations.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4150" y="1419225"/>
            <a:ext cx="5080635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D9488"/>
                </a:solidFill>
                <a:latin typeface="Poppins"/>
              </a:rPr>
              <a:t>Ingestion Engine IAM Controls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4150" y="1809750"/>
            <a:ext cx="4838700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334155"/>
                </a:solidFill>
                <a:latin typeface="Lato"/>
              </a:rPr>
              <a:t>The ingestion role relies strictly on the Principle of Least Privilege, isolating write capabilities to the raw landing zone bucket: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" y="2583656"/>
            <a:ext cx="4552950" cy="207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125" i="0" u="none">
                <a:solidFill>
                  <a:srgbClr val="334155"/>
                </a:solidFill>
                <a:latin typeface="Lato"/>
              </a:rPr>
              <a:t>Zero OOM Crashes:</a:t>
            </a:r>
            <a:r>
              <a:rPr b="0" sz="1125" i="0" u="none">
                <a:solidFill>
                  <a:srgbClr val="334155"/>
                </a:solidFill>
                <a:latin typeface="Lato"/>
              </a:rPr>
              <a:t> Payloads are processed in memory blocks of 16MB.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900" y="2905125"/>
            <a:ext cx="4552950" cy="207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125" i="0" u="none">
                <a:solidFill>
                  <a:srgbClr val="334155"/>
                </a:solidFill>
                <a:latin typeface="Lato"/>
              </a:rPr>
              <a:t>Parallel Parts:</a:t>
            </a:r>
            <a:r>
              <a:rPr b="0" sz="1125" i="0" u="none">
                <a:solidFill>
                  <a:srgbClr val="334155"/>
                </a:solidFill>
                <a:latin typeface="Lato"/>
              </a:rPr>
              <a:t> Chunk chunks are pushed to S3 simultaneously.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9900" y="2366962"/>
            <a:ext cx="4552950" cy="4238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125" i="0" u="none">
                <a:solidFill>
                  <a:srgbClr val="334155"/>
                </a:solidFill>
                <a:latin typeface="Lato"/>
              </a:rPr>
              <a:t>S3 Write Restrictions:</a:t>
            </a:r>
            <a:r>
              <a:rPr b="0" sz="1125" i="0" u="none">
                <a:solidFill>
                  <a:srgbClr val="334155"/>
                </a:solidFill>
                <a:latin typeface="Lato"/>
              </a:rPr>
              <a:t> Restricted exclusively to </a:t>
            </a:r>
            <a:r>
              <a:rPr b="0" sz="1125" i="0" u="none">
                <a:solidFill>
                  <a:srgbClr val="334155"/>
                </a:solidFill>
                <a:latin typeface="Lato"/>
              </a:rPr>
              <a:t>s3:PutObject</a:t>
            </a:r>
            <a:r>
              <a:rPr b="0" sz="1125" i="0" u="none">
                <a:solidFill>
                  <a:srgbClr val="334155"/>
                </a:solidFill>
                <a:latin typeface="Lato"/>
              </a:rPr>
              <a:t> and multi-part upload permissions on the data target path.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9900" y="2905125"/>
            <a:ext cx="4552950" cy="6310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125" i="0" u="none">
                <a:solidFill>
                  <a:srgbClr val="334155"/>
                </a:solidFill>
                <a:latin typeface="Lato"/>
              </a:rPr>
              <a:t>KMS Key Cryptography:</a:t>
            </a:r>
            <a:r>
              <a:rPr b="0" sz="1125" i="0" u="none">
                <a:solidFill>
                  <a:srgbClr val="334155"/>
                </a:solidFill>
                <a:latin typeface="Lato"/>
              </a:rPr>
              <a:t> Granted minimal keyspace permissions (</a:t>
            </a:r>
            <a:r>
              <a:rPr b="0" sz="1125" i="0" u="none">
                <a:solidFill>
                  <a:srgbClr val="334155"/>
                </a:solidFill>
                <a:latin typeface="Lato"/>
              </a:rPr>
              <a:t>kms:GenerateDataKey</a:t>
            </a:r>
            <a:r>
              <a:rPr b="0" sz="1125" i="0" u="none">
                <a:solidFill>
                  <a:srgbClr val="334155"/>
                </a:solidFill>
                <a:latin typeface="Lato"/>
              </a:rPr>
              <a:t> and </a:t>
            </a:r>
            <a:r>
              <a:rPr b="0" sz="1125" i="0" u="none">
                <a:solidFill>
                  <a:srgbClr val="334155"/>
                </a:solidFill>
                <a:latin typeface="Lato"/>
              </a:rPr>
              <a:t>kms:Encrypt</a:t>
            </a:r>
            <a:r>
              <a:rPr b="0" sz="1125" i="0" u="none">
                <a:solidFill>
                  <a:srgbClr val="334155"/>
                </a:solidFill>
                <a:latin typeface="Lato"/>
              </a:rPr>
              <a:t>) linked to a Customer Managed Key.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9900" y="3650456"/>
            <a:ext cx="4552950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125" i="0" u="none">
                <a:solidFill>
                  <a:srgbClr val="334155"/>
                </a:solidFill>
                <a:latin typeface="Lato"/>
              </a:rPr>
              <a:t>Service Trust:</a:t>
            </a:r>
            <a:r>
              <a:rPr b="0" sz="1125" i="0" u="none">
                <a:solidFill>
                  <a:srgbClr val="334155"/>
                </a:solidFill>
                <a:latin typeface="Lato"/>
              </a:rPr>
              <a:t> Enforced through strict resource-based policies limiting execution trust to AWS Glue and Lambda.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75" y="2612231"/>
            <a:ext cx="171450" cy="1524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75" y="2933700"/>
            <a:ext cx="190500" cy="1524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1775" y="2395537"/>
            <a:ext cx="152400" cy="1524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1775" y="2933700"/>
            <a:ext cx="152400" cy="1524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81775" y="3679031"/>
            <a:ext cx="190500" cy="1524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14375" y="476250"/>
            <a:ext cx="1145143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oppins"/>
              </a:rPr>
              <a:t>Ingestion Specifications &amp; IAM Control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1500" y="476250"/>
            <a:ext cx="47625" cy="4572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171575"/>
            <a:ext cx="11049000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1371600"/>
            <a:ext cx="7950993" cy="32194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64613" y="2409825"/>
            <a:ext cx="1655861" cy="1143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" y="1276350"/>
            <a:ext cx="1885950" cy="1809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3450" y="1533525"/>
            <a:ext cx="6763791" cy="2895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5375" y="1438275"/>
            <a:ext cx="3038475" cy="1809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44054" y="2409825"/>
            <a:ext cx="1333500" cy="11430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53271" y="2409825"/>
            <a:ext cx="1524000" cy="11430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52988" y="2409825"/>
            <a:ext cx="1333500" cy="1143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1500" y="4933950"/>
            <a:ext cx="11049000" cy="1794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13"/>
              </a:lnSpc>
            </a:pPr>
            <a:r>
              <a:rPr b="0" sz="975" i="1" u="none">
                <a:solidFill>
                  <a:srgbClr val="64748B"/>
                </a:solidFill>
                <a:latin typeface="Lato"/>
              </a:rPr>
              <a:t>Figure 2.0: Tableau JDBC client queries traversing AWS PrivateLink network interface cards directly, bypassing public API endpoints.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57841" y="2828925"/>
            <a:ext cx="171450" cy="17145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8865393" y="2971800"/>
            <a:ext cx="756344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449669" y="2676525"/>
            <a:ext cx="285750" cy="2286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135344" y="2962275"/>
            <a:ext cx="9144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1E293B"/>
                </a:solidFill>
                <a:latin typeface="Poppins SemiBold"/>
              </a:rPr>
              <a:t>Athena Public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63906" y="3171825"/>
            <a:ext cx="1057275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750" i="0" u="none">
                <a:solidFill>
                  <a:srgbClr val="64748B"/>
                </a:solidFill>
                <a:latin typeface="Lato"/>
              </a:rPr>
              <a:t>Open Interface (Blocked)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782216" y="2676525"/>
            <a:ext cx="257175" cy="2286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401216" y="2962275"/>
            <a:ext cx="10191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1E293B"/>
                </a:solidFill>
                <a:latin typeface="Poppins SemiBold"/>
              </a:rPr>
              <a:t>Tableau Server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129" y="3171825"/>
            <a:ext cx="8953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750" i="0" u="none">
                <a:solidFill>
                  <a:srgbClr val="64748B"/>
                </a:solidFill>
                <a:latin typeface="Lato"/>
              </a:rPr>
              <a:t>Analytics Dashboard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74912" y="2971800"/>
            <a:ext cx="381000" cy="1905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172396" y="2676525"/>
            <a:ext cx="285750" cy="2286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3748533" y="2962275"/>
            <a:ext cx="11334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1E293B"/>
                </a:solidFill>
                <a:latin typeface="Poppins SemiBold"/>
              </a:rPr>
              <a:t>Athena Interface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53308" y="3171825"/>
            <a:ext cx="923925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750" i="0" u="none">
                <a:solidFill>
                  <a:srgbClr val="64748B"/>
                </a:solidFill>
                <a:latin typeface="Lato"/>
              </a:rPr>
              <a:t>PrivateLink ENI Node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74630" y="2971800"/>
            <a:ext cx="381000" cy="1905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619726" y="2676525"/>
            <a:ext cx="200025" cy="2286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310163" y="2962275"/>
            <a:ext cx="8191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1E293B"/>
                </a:solidFill>
                <a:latin typeface="Poppins SemiBold"/>
              </a:rPr>
              <a:t>AWS S3 Lake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86351" y="3171825"/>
            <a:ext cx="866775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750" i="0" u="none">
                <a:solidFill>
                  <a:srgbClr val="64748B"/>
                </a:solidFill>
                <a:latin typeface="Lato"/>
              </a:rPr>
              <a:t>Analytic Warehouse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4375" y="476250"/>
            <a:ext cx="1145143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oppins"/>
              </a:rPr>
              <a:t>Secure Exploitation Blueprint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1500" y="476250"/>
            <a:ext cx="47625" cy="4572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171575"/>
            <a:ext cx="5334000" cy="346233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171575"/>
            <a:ext cx="5334000" cy="346233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19150" y="1419225"/>
            <a:ext cx="5080635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D9488"/>
                </a:solidFill>
                <a:latin typeface="Poppins"/>
              </a:rPr>
              <a:t>VPC Endpoint 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9150" y="1809750"/>
            <a:ext cx="4838700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334155"/>
                </a:solidFill>
                <a:latin typeface="Lato"/>
              </a:rPr>
              <a:t>Traffic targeting the public domain is bypassed by forcing query flows through an interface-driven </a:t>
            </a:r>
            <a:r>
              <a:rPr b="1" sz="1125" i="0" u="none">
                <a:solidFill>
                  <a:srgbClr val="334155"/>
                </a:solidFill>
                <a:latin typeface="Lato"/>
              </a:rPr>
              <a:t>Athena VPC Interface Endpoint</a:t>
            </a:r>
            <a:r>
              <a:rPr b="0" sz="1125" i="0" u="none">
                <a:solidFill>
                  <a:srgbClr val="334155"/>
                </a:solidFill>
                <a:latin typeface="Lato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4150" y="1419225"/>
            <a:ext cx="5080635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D9488"/>
                </a:solidFill>
                <a:latin typeface="Poppins"/>
              </a:rPr>
              <a:t>Tableau Query IAM Access Controls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4150" y="1809750"/>
            <a:ext cx="4838700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334155"/>
                </a:solidFill>
                <a:latin typeface="Lato"/>
              </a:rPr>
              <a:t>The role linked to the Tableau JDBC driver restricts interactive analytics workloads to trusted query zones only: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" y="2366962"/>
            <a:ext cx="4552950" cy="847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125" i="0" u="none">
                <a:solidFill>
                  <a:srgbClr val="334155"/>
                </a:solidFill>
                <a:latin typeface="Lato"/>
              </a:rPr>
              <a:t>JDBC Connection Route:</a:t>
            </a:r>
            <a:r>
              <a:rPr b="0" sz="1125" i="0" u="none">
                <a:solidFill>
                  <a:srgbClr val="334155"/>
                </a:solidFill>
                <a:latin typeface="Lato"/>
              </a:rPr>
              <a:t> Tableau maps endpoints inside DNS configuration parameters dynamically: </a:t>
            </a:r>
            <a:r>
              <a:t>
</a:t>
            </a:r>
            <a:r>
              <a:rPr b="0" sz="1125" i="0" u="none">
                <a:solidFill>
                  <a:srgbClr val="334155"/>
                </a:solidFill>
                <a:latin typeface="Lato"/>
              </a:rPr>
              <a:t>vpce-1a2b3c4d-athena.ap-southeast-1.vpce.amazonaws.com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9900" y="2366962"/>
            <a:ext cx="4552950" cy="6310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125" i="0" u="none">
                <a:solidFill>
                  <a:srgbClr val="334155"/>
                </a:solidFill>
                <a:latin typeface="Lato"/>
              </a:rPr>
              <a:t>Athena Platform Controls:</a:t>
            </a:r>
            <a:r>
              <a:rPr b="0" sz="1125" i="0" u="none">
                <a:solidFill>
                  <a:srgbClr val="334155"/>
                </a:solidFill>
                <a:latin typeface="Lato"/>
              </a:rPr>
              <a:t> Granted read execution permissions (</a:t>
            </a:r>
            <a:r>
              <a:rPr b="0" sz="1125" i="0" u="none">
                <a:solidFill>
                  <a:srgbClr val="334155"/>
                </a:solidFill>
                <a:latin typeface="Lato"/>
              </a:rPr>
              <a:t>athena:StartQueryExecution</a:t>
            </a:r>
            <a:r>
              <a:rPr b="0" sz="1125" i="0" u="none">
                <a:solidFill>
                  <a:srgbClr val="334155"/>
                </a:solidFill>
                <a:latin typeface="Lato"/>
              </a:rPr>
              <a:t>, </a:t>
            </a:r>
            <a:r>
              <a:rPr b="0" sz="1125" i="0" u="none">
                <a:solidFill>
                  <a:srgbClr val="334155"/>
                </a:solidFill>
                <a:latin typeface="Lato"/>
              </a:rPr>
              <a:t>athena:GetQueryResults</a:t>
            </a:r>
            <a:r>
              <a:rPr b="0" sz="1125" i="0" u="none">
                <a:solidFill>
                  <a:srgbClr val="334155"/>
                </a:solidFill>
                <a:latin typeface="Lato"/>
              </a:rPr>
              <a:t>) restricted strictly to the designated Tableau workgroup.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9900" y="3112293"/>
            <a:ext cx="4552950" cy="6310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125" i="0" u="none">
                <a:solidFill>
                  <a:srgbClr val="334155"/>
                </a:solidFill>
                <a:latin typeface="Lato"/>
              </a:rPr>
              <a:t>S3 Read Restrictions:</a:t>
            </a:r>
            <a:r>
              <a:rPr b="0" sz="1125" i="0" u="none">
                <a:solidFill>
                  <a:srgbClr val="334155"/>
                </a:solidFill>
                <a:latin typeface="Lato"/>
              </a:rPr>
              <a:t> Limits dataset discovery actions (</a:t>
            </a:r>
            <a:r>
              <a:rPr b="0" sz="1125" i="0" u="none">
                <a:solidFill>
                  <a:srgbClr val="334155"/>
                </a:solidFill>
                <a:latin typeface="Lato"/>
              </a:rPr>
              <a:t>s3:GetObject</a:t>
            </a:r>
            <a:r>
              <a:rPr b="0" sz="1125" i="0" u="none">
                <a:solidFill>
                  <a:srgbClr val="334155"/>
                </a:solidFill>
                <a:latin typeface="Lato"/>
              </a:rPr>
              <a:t>, </a:t>
            </a:r>
            <a:r>
              <a:rPr b="0" sz="1125" i="0" u="none">
                <a:solidFill>
                  <a:srgbClr val="334155"/>
                </a:solidFill>
                <a:latin typeface="Lato"/>
              </a:rPr>
              <a:t>s3:ListBucket</a:t>
            </a:r>
            <a:r>
              <a:rPr b="0" sz="1125" i="0" u="none">
                <a:solidFill>
                  <a:srgbClr val="334155"/>
                </a:solidFill>
                <a:latin typeface="Lato"/>
              </a:rPr>
              <a:t>) solely to read paths inside the HDB warehouse store.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9900" y="3857625"/>
            <a:ext cx="4552950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125" i="0" u="none">
                <a:solidFill>
                  <a:srgbClr val="334155"/>
                </a:solidFill>
                <a:latin typeface="Lato"/>
              </a:rPr>
              <a:t>Security Audits:</a:t>
            </a:r>
            <a:r>
              <a:rPr b="0" sz="1125" i="0" u="none">
                <a:solidFill>
                  <a:srgbClr val="334155"/>
                </a:solidFill>
                <a:latin typeface="Lato"/>
              </a:rPr>
              <a:t> Key decryption capabilities are routed dynamically through KMS configuration audits, maintaining end-to-end trace logs.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75" y="2395537"/>
            <a:ext cx="190500" cy="1524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1775" y="2395537"/>
            <a:ext cx="152400" cy="1524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1775" y="3140868"/>
            <a:ext cx="171450" cy="1524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1775" y="3886200"/>
            <a:ext cx="190500" cy="1524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14375" y="476250"/>
            <a:ext cx="1145143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oppins"/>
              </a:rPr>
              <a:t>Exploitation Specs &amp; IAM Access Control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1500" y="476250"/>
            <a:ext cx="47625" cy="4572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